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98" r:id="rId3"/>
    <p:sldId id="299" r:id="rId4"/>
    <p:sldId id="300" r:id="rId5"/>
    <p:sldId id="301" r:id="rId6"/>
    <p:sldId id="302" r:id="rId7"/>
    <p:sldId id="303" r:id="rId8"/>
    <p:sldId id="307" r:id="rId9"/>
    <p:sldId id="304" r:id="rId10"/>
    <p:sldId id="305" r:id="rId11"/>
    <p:sldId id="306" r:id="rId12"/>
    <p:sldId id="30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22D7D0-DE0D-4304-AFEB-7CAC20A40423}" v="27" dt="2026-07-23T14:10:59.584"/>
  </p1510:revLst>
</p1510:revInfo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89" autoAdjust="0"/>
    <p:restoredTop sz="94660"/>
  </p:normalViewPr>
  <p:slideViewPr>
    <p:cSldViewPr snapToGrid="0">
      <p:cViewPr varScale="1">
        <p:scale>
          <a:sx n="82" d="100"/>
          <a:sy n="82" d="100"/>
        </p:scale>
        <p:origin x="10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ul Murugan" userId="eab9623e9598f31d" providerId="LiveId" clId="{4A333819-8705-43A2-AF3B-2E2CCE176FD9}"/>
    <pc:docChg chg="undo custSel addSld modSld">
      <pc:chgData name="Arul Murugan" userId="eab9623e9598f31d" providerId="LiveId" clId="{4A333819-8705-43A2-AF3B-2E2CCE176FD9}" dt="2026-07-23T14:09:40.186" v="172" actId="20577"/>
      <pc:docMkLst>
        <pc:docMk/>
      </pc:docMkLst>
      <pc:sldChg chg="modSp mod">
        <pc:chgData name="Arul Murugan" userId="eab9623e9598f31d" providerId="LiveId" clId="{4A333819-8705-43A2-AF3B-2E2CCE176FD9}" dt="2026-07-23T13:45:55.612" v="81" actId="20577"/>
        <pc:sldMkLst>
          <pc:docMk/>
          <pc:sldMk cId="101999492" sldId="256"/>
        </pc:sldMkLst>
        <pc:spChg chg="mod">
          <ac:chgData name="Arul Murugan" userId="eab9623e9598f31d" providerId="LiveId" clId="{4A333819-8705-43A2-AF3B-2E2CCE176FD9}" dt="2026-07-23T13:45:55.612" v="81" actId="20577"/>
          <ac:spMkLst>
            <pc:docMk/>
            <pc:sldMk cId="101999492" sldId="256"/>
            <ac:spMk id="19" creationId="{0A147CFF-E830-BA67-DABF-02B8AF3A1693}"/>
          </ac:spMkLst>
        </pc:spChg>
      </pc:sldChg>
      <pc:sldChg chg="addSp delSp modSp mod">
        <pc:chgData name="Arul Murugan" userId="eab9623e9598f31d" providerId="LiveId" clId="{4A333819-8705-43A2-AF3B-2E2CCE176FD9}" dt="2026-07-23T13:49:09.061" v="112" actId="5793"/>
        <pc:sldMkLst>
          <pc:docMk/>
          <pc:sldMk cId="3219357487" sldId="303"/>
        </pc:sldMkLst>
        <pc:spChg chg="mod">
          <ac:chgData name="Arul Murugan" userId="eab9623e9598f31d" providerId="LiveId" clId="{4A333819-8705-43A2-AF3B-2E2CCE176FD9}" dt="2026-07-23T13:49:09.061" v="112" actId="5793"/>
          <ac:spMkLst>
            <pc:docMk/>
            <pc:sldMk cId="3219357487" sldId="303"/>
            <ac:spMk id="3" creationId="{461F0263-EAE1-004B-AFE4-F952EC819674}"/>
          </ac:spMkLst>
        </pc:spChg>
        <pc:graphicFrameChg chg="add del mod">
          <ac:chgData name="Arul Murugan" userId="eab9623e9598f31d" providerId="LiveId" clId="{4A333819-8705-43A2-AF3B-2E2CCE176FD9}" dt="2026-07-23T13:46:47.341" v="98" actId="478"/>
          <ac:graphicFrameMkLst>
            <pc:docMk/>
            <pc:sldMk cId="3219357487" sldId="303"/>
            <ac:graphicFrameMk id="7" creationId="{613182ED-E5D4-29FC-BC87-AA883687E010}"/>
          </ac:graphicFrameMkLst>
        </pc:graphicFrameChg>
      </pc:sldChg>
      <pc:sldChg chg="addSp delSp modSp mod">
        <pc:chgData name="Arul Murugan" userId="eab9623e9598f31d" providerId="LiveId" clId="{4A333819-8705-43A2-AF3B-2E2CCE176FD9}" dt="2026-06-27T06:29:29.060" v="31" actId="1076"/>
        <pc:sldMkLst>
          <pc:docMk/>
          <pc:sldMk cId="1382278941" sldId="305"/>
        </pc:sldMkLst>
        <pc:spChg chg="add mod">
          <ac:chgData name="Arul Murugan" userId="eab9623e9598f31d" providerId="LiveId" clId="{4A333819-8705-43A2-AF3B-2E2CCE176FD9}" dt="2026-06-27T06:29:10.724" v="27" actId="13822"/>
          <ac:spMkLst>
            <pc:docMk/>
            <pc:sldMk cId="1382278941" sldId="305"/>
            <ac:spMk id="20" creationId="{51CDC1BE-2E6F-898C-CCBB-BB803C54D487}"/>
          </ac:spMkLst>
        </pc:spChg>
        <pc:spChg chg="add mod">
          <ac:chgData name="Arul Murugan" userId="eab9623e9598f31d" providerId="LiveId" clId="{4A333819-8705-43A2-AF3B-2E2CCE176FD9}" dt="2026-06-27T06:29:24.168" v="29" actId="1076"/>
          <ac:spMkLst>
            <pc:docMk/>
            <pc:sldMk cId="1382278941" sldId="305"/>
            <ac:spMk id="21" creationId="{41447188-A4C4-9B22-35BB-8EEF6BE0C490}"/>
          </ac:spMkLst>
        </pc:spChg>
        <pc:spChg chg="add mod">
          <ac:chgData name="Arul Murugan" userId="eab9623e9598f31d" providerId="LiveId" clId="{4A333819-8705-43A2-AF3B-2E2CCE176FD9}" dt="2026-06-27T06:29:29.060" v="31" actId="1076"/>
          <ac:spMkLst>
            <pc:docMk/>
            <pc:sldMk cId="1382278941" sldId="305"/>
            <ac:spMk id="22" creationId="{65E1E9A6-A931-C03C-47C3-762168008E87}"/>
          </ac:spMkLst>
        </pc:spChg>
        <pc:picChg chg="add mod">
          <ac:chgData name="Arul Murugan" userId="eab9623e9598f31d" providerId="LiveId" clId="{4A333819-8705-43A2-AF3B-2E2CCE176FD9}" dt="2026-06-27T06:27:42.198" v="7" actId="1076"/>
          <ac:picMkLst>
            <pc:docMk/>
            <pc:sldMk cId="1382278941" sldId="305"/>
            <ac:picMk id="11" creationId="{A7D0D02D-66AD-BD2B-9DDE-1A41203E30AB}"/>
          </ac:picMkLst>
        </pc:picChg>
        <pc:cxnChg chg="add mod">
          <ac:chgData name="Arul Murugan" userId="eab9623e9598f31d" providerId="LiveId" clId="{4A333819-8705-43A2-AF3B-2E2CCE176FD9}" dt="2026-06-27T06:28:05.708" v="9" actId="13822"/>
          <ac:cxnSpMkLst>
            <pc:docMk/>
            <pc:sldMk cId="1382278941" sldId="305"/>
            <ac:cxnSpMk id="13" creationId="{DA99C040-66DB-73F7-1AF1-3990B203B62D}"/>
          </ac:cxnSpMkLst>
        </pc:cxnChg>
        <pc:cxnChg chg="add mod">
          <ac:chgData name="Arul Murugan" userId="eab9623e9598f31d" providerId="LiveId" clId="{4A333819-8705-43A2-AF3B-2E2CCE176FD9}" dt="2026-06-27T06:28:22.014" v="11" actId="1076"/>
          <ac:cxnSpMkLst>
            <pc:docMk/>
            <pc:sldMk cId="1382278941" sldId="305"/>
            <ac:cxnSpMk id="14" creationId="{321F6823-873E-8018-7666-475FCC2BDF3D}"/>
          </ac:cxnSpMkLst>
        </pc:cxnChg>
        <pc:cxnChg chg="add mod">
          <ac:chgData name="Arul Murugan" userId="eab9623e9598f31d" providerId="LiveId" clId="{4A333819-8705-43A2-AF3B-2E2CCE176FD9}" dt="2026-06-27T06:28:26.907" v="13" actId="1076"/>
          <ac:cxnSpMkLst>
            <pc:docMk/>
            <pc:sldMk cId="1382278941" sldId="305"/>
            <ac:cxnSpMk id="15" creationId="{B02CCE9F-CBBB-7182-D5B2-3A4B99FC515D}"/>
          </ac:cxnSpMkLst>
        </pc:cxnChg>
        <pc:cxnChg chg="add mod">
          <ac:chgData name="Arul Murugan" userId="eab9623e9598f31d" providerId="LiveId" clId="{4A333819-8705-43A2-AF3B-2E2CCE176FD9}" dt="2026-06-27T06:28:42.730" v="20" actId="1076"/>
          <ac:cxnSpMkLst>
            <pc:docMk/>
            <pc:sldMk cId="1382278941" sldId="305"/>
            <ac:cxnSpMk id="16" creationId="{C5A4B5A6-5F11-FADB-12B4-AC6D6796A841}"/>
          </ac:cxnSpMkLst>
        </pc:cxnChg>
        <pc:cxnChg chg="add mod">
          <ac:chgData name="Arul Murugan" userId="eab9623e9598f31d" providerId="LiveId" clId="{4A333819-8705-43A2-AF3B-2E2CCE176FD9}" dt="2026-06-27T06:28:54.129" v="23" actId="1076"/>
          <ac:cxnSpMkLst>
            <pc:docMk/>
            <pc:sldMk cId="1382278941" sldId="305"/>
            <ac:cxnSpMk id="18" creationId="{64F4F5EB-616C-424A-7FC6-8C5C1A0311FD}"/>
          </ac:cxnSpMkLst>
        </pc:cxnChg>
      </pc:sldChg>
      <pc:sldChg chg="delSp modSp new mod">
        <pc:chgData name="Arul Murugan" userId="eab9623e9598f31d" providerId="LiveId" clId="{4A333819-8705-43A2-AF3B-2E2CCE176FD9}" dt="2026-07-23T14:07:02.494" v="120" actId="478"/>
        <pc:sldMkLst>
          <pc:docMk/>
          <pc:sldMk cId="3823693626" sldId="307"/>
        </pc:sldMkLst>
        <pc:spChg chg="del">
          <ac:chgData name="Arul Murugan" userId="eab9623e9598f31d" providerId="LiveId" clId="{4A333819-8705-43A2-AF3B-2E2CCE176FD9}" dt="2026-07-23T14:07:02.494" v="120" actId="478"/>
          <ac:spMkLst>
            <pc:docMk/>
            <pc:sldMk cId="3823693626" sldId="307"/>
            <ac:spMk id="2" creationId="{38503D3F-AFD7-6C07-320B-6A06C72FC560}"/>
          </ac:spMkLst>
        </pc:spChg>
        <pc:spChg chg="mod">
          <ac:chgData name="Arul Murugan" userId="eab9623e9598f31d" providerId="LiveId" clId="{4A333819-8705-43A2-AF3B-2E2CCE176FD9}" dt="2026-07-23T13:49:14.461" v="113" actId="5793"/>
          <ac:spMkLst>
            <pc:docMk/>
            <pc:sldMk cId="3823693626" sldId="307"/>
            <ac:spMk id="3" creationId="{9228C86C-709C-1D7E-3FF9-03D1F955B826}"/>
          </ac:spMkLst>
        </pc:spChg>
      </pc:sldChg>
      <pc:sldChg chg="addSp modSp new mod">
        <pc:chgData name="Arul Murugan" userId="eab9623e9598f31d" providerId="LiveId" clId="{4A333819-8705-43A2-AF3B-2E2CCE176FD9}" dt="2026-07-23T14:09:40.186" v="172" actId="20577"/>
        <pc:sldMkLst>
          <pc:docMk/>
          <pc:sldMk cId="1825998109" sldId="308"/>
        </pc:sldMkLst>
        <pc:spChg chg="add mod">
          <ac:chgData name="Arul Murugan" userId="eab9623e9598f31d" providerId="LiveId" clId="{4A333819-8705-43A2-AF3B-2E2CCE176FD9}" dt="2026-07-23T14:09:40.186" v="172" actId="20577"/>
          <ac:spMkLst>
            <pc:docMk/>
            <pc:sldMk cId="1825998109" sldId="308"/>
            <ac:spMk id="6" creationId="{A17C00C7-5A11-6BC3-7A37-004DC88B7910}"/>
          </ac:spMkLst>
        </pc:spChg>
        <pc:picChg chg="add mod">
          <ac:chgData name="Arul Murugan" userId="eab9623e9598f31d" providerId="LiveId" clId="{4A333819-8705-43A2-AF3B-2E2CCE176FD9}" dt="2026-07-23T14:06:23.507" v="119" actId="14100"/>
          <ac:picMkLst>
            <pc:docMk/>
            <pc:sldMk cId="1825998109" sldId="308"/>
            <ac:picMk id="5" creationId="{228C1658-30AF-0004-6E41-E4FA23952BE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2945E-0C98-4608-9897-B8CCB16FA10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1B8D3E-174C-45A5-963C-6A840E4BE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191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6EAE-9709-49E3-9D09-DF49288CBEB5}" type="datetime1">
              <a:rPr lang="en-IN" smtClean="0"/>
              <a:t>23-07-2026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Startup 20">
            <a:extLst>
              <a:ext uri="{FF2B5EF4-FFF2-40B4-BE49-F238E27FC236}">
                <a16:creationId xmlns:a16="http://schemas.microsoft.com/office/drawing/2014/main" id="{CE4F2295-6AEF-4787-F327-B5B3339595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21D313A2-745B-DE31-A14C-6DC7B4B06C71}"/>
              </a:ext>
            </a:extLst>
          </p:cNvPr>
          <p:cNvSpPr txBox="1">
            <a:spLocks/>
          </p:cNvSpPr>
          <p:nvPr userDrawn="1"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34649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Startup 20">
            <a:extLst>
              <a:ext uri="{FF2B5EF4-FFF2-40B4-BE49-F238E27FC236}">
                <a16:creationId xmlns:a16="http://schemas.microsoft.com/office/drawing/2014/main" id="{F508EA8F-B4E2-3C42-A5CC-2F45DACAEA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9BAA8F0E-F904-0C29-7E58-1EA8317F934E}"/>
              </a:ext>
            </a:extLst>
          </p:cNvPr>
          <p:cNvSpPr txBox="1">
            <a:spLocks/>
          </p:cNvSpPr>
          <p:nvPr userDrawn="1"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76699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="1"/>
            </a:lvl1pPr>
          </a:lstStyle>
          <a:p>
            <a:fld id="{B4B4BD06-C707-4ECB-B568-73D1461E3867}" type="datetime1">
              <a:rPr lang="en-IN" smtClean="0"/>
              <a:pPr/>
              <a:t>23-07-2026</a:t>
            </a:fld>
            <a:endParaRPr lang="en-IN" b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/>
            </a:lvl1pPr>
          </a:lstStyle>
          <a:p>
            <a:fld id="{75FB8137-F6AA-4E86-959E-1B3561B3F039}" type="slidenum">
              <a:rPr lang="en-IN" smtClean="0"/>
              <a:pPr/>
              <a:t>‹#›</a:t>
            </a:fld>
            <a:endParaRPr lang="en-IN" b="1"/>
          </a:p>
        </p:txBody>
      </p:sp>
      <p:pic>
        <p:nvPicPr>
          <p:cNvPr id="8" name="Picture 2" descr="Startup 20">
            <a:extLst>
              <a:ext uri="{FF2B5EF4-FFF2-40B4-BE49-F238E27FC236}">
                <a16:creationId xmlns:a16="http://schemas.microsoft.com/office/drawing/2014/main" id="{9B24C2D6-F41B-05C4-DCA3-B404E0D4E3C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D43C5703-7AC8-2BA1-393D-CD09AC701454}"/>
              </a:ext>
            </a:extLst>
          </p:cNvPr>
          <p:cNvSpPr txBox="1">
            <a:spLocks/>
          </p:cNvSpPr>
          <p:nvPr userDrawn="1"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7844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27FF-BB99-4261-B1FD-3F822A477C71}" type="datetime1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2" descr="Startup 20">
            <a:extLst>
              <a:ext uri="{FF2B5EF4-FFF2-40B4-BE49-F238E27FC236}">
                <a16:creationId xmlns:a16="http://schemas.microsoft.com/office/drawing/2014/main" id="{30A23F64-2680-225F-FB9F-D400C319275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8002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1C89-564E-4D4B-B799-5EE666708D20}" type="datetime1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2" descr="Startup 20">
            <a:extLst>
              <a:ext uri="{FF2B5EF4-FFF2-40B4-BE49-F238E27FC236}">
                <a16:creationId xmlns:a16="http://schemas.microsoft.com/office/drawing/2014/main" id="{DBD96398-B0AB-F6F6-A8C3-8504654B8AE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945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F782-7CD5-4FC8-B84E-61B3C475D8E0}" type="datetime1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Startup 20">
            <a:extLst>
              <a:ext uri="{FF2B5EF4-FFF2-40B4-BE49-F238E27FC236}">
                <a16:creationId xmlns:a16="http://schemas.microsoft.com/office/drawing/2014/main" id="{96D74072-F32F-6E6F-2F24-CABF556F60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Startup 20">
            <a:extLst>
              <a:ext uri="{FF2B5EF4-FFF2-40B4-BE49-F238E27FC236}">
                <a16:creationId xmlns:a16="http://schemas.microsoft.com/office/drawing/2014/main" id="{8F2886BC-5857-A5E2-083E-FBF0705B55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0" y="2889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5116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92139-4228-4E1E-AE34-D1AC707B480F}" type="datetime1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2" descr="Startup 20">
            <a:extLst>
              <a:ext uri="{FF2B5EF4-FFF2-40B4-BE49-F238E27FC236}">
                <a16:creationId xmlns:a16="http://schemas.microsoft.com/office/drawing/2014/main" id="{303214BA-6D8A-0649-717D-0809813905E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066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37A5C-3DAF-4449-AA2B-8CCFC542C1C4}" type="datetime1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2" descr="Startup 20">
            <a:extLst>
              <a:ext uri="{FF2B5EF4-FFF2-40B4-BE49-F238E27FC236}">
                <a16:creationId xmlns:a16="http://schemas.microsoft.com/office/drawing/2014/main" id="{8528EC7E-42E1-E14A-977A-7187EE77BF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0601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D77D4-720D-4278-A961-3910D5FF5A20}" type="datetime1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2" descr="Startup 20">
            <a:extLst>
              <a:ext uri="{FF2B5EF4-FFF2-40B4-BE49-F238E27FC236}">
                <a16:creationId xmlns:a16="http://schemas.microsoft.com/office/drawing/2014/main" id="{231E13D4-D8BF-FF2C-E90B-3AA52F08EE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3663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BA1C-C95D-4B1D-9753-55BC791973F6}" type="datetime1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2" descr="Startup 20">
            <a:extLst>
              <a:ext uri="{FF2B5EF4-FFF2-40B4-BE49-F238E27FC236}">
                <a16:creationId xmlns:a16="http://schemas.microsoft.com/office/drawing/2014/main" id="{79ABC2DC-8FE1-32D1-AB55-46D5EB11C5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1866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21CF-FD19-4CFD-9A6E-81D4C4756A2F}" type="datetime1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2" descr="Startup 20">
            <a:extLst>
              <a:ext uri="{FF2B5EF4-FFF2-40B4-BE49-F238E27FC236}">
                <a16:creationId xmlns:a16="http://schemas.microsoft.com/office/drawing/2014/main" id="{775BEE5D-F035-7E6F-5722-CC1C455EDEC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8737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A2292-8BE8-41D2-A32D-BB37E572F7D6}" type="datetime1">
              <a:rPr lang="en-IN" smtClean="0"/>
              <a:pPr/>
              <a:t>23-07-2026</a:t>
            </a:fld>
            <a:endParaRPr lang="en-IN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B8137-F6AA-4E86-959E-1B3561B3F039}" type="slidenum">
              <a:rPr lang="en-IN" smtClean="0"/>
              <a:pPr/>
              <a:t>‹#›</a:t>
            </a:fld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60177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vm-groupdeal-1r.vusercontent.net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1822" y="2130037"/>
            <a:ext cx="9144000" cy="3305836"/>
          </a:xfrm>
        </p:spPr>
        <p:txBody>
          <a:bodyPr>
            <a:normAutofit/>
          </a:bodyPr>
          <a:lstStyle/>
          <a:p>
            <a:r>
              <a:rPr lang="en-US" sz="2800" dirty="0"/>
              <a:t>Department of Computer Science and Engineering</a:t>
            </a:r>
          </a:p>
          <a:p>
            <a:r>
              <a:rPr lang="en-US" sz="2800" dirty="0">
                <a:solidFill>
                  <a:srgbClr val="FF0000"/>
                </a:solidFill>
              </a:rPr>
              <a:t>MOBILE APPLICATION DEVELOPMENT</a:t>
            </a:r>
          </a:p>
          <a:p>
            <a:r>
              <a:rPr lang="en-US" b="1" dirty="0"/>
              <a:t>GroupDeal – Buy Together, Save More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826F17E-A98B-B6DC-057C-8546ECF7AE0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379" y="159347"/>
            <a:ext cx="8991600" cy="1850571"/>
          </a:xfrm>
          <a:prstGeom prst="rect">
            <a:avLst/>
          </a:prstGeom>
        </p:spPr>
      </p:pic>
      <p:sp>
        <p:nvSpPr>
          <p:cNvPr id="18" name="Rectangle 3">
            <a:extLst>
              <a:ext uri="{FF2B5EF4-FFF2-40B4-BE49-F238E27FC236}">
                <a16:creationId xmlns:a16="http://schemas.microsoft.com/office/drawing/2014/main" id="{AFE3F3CE-0A38-5B04-A5E0-FC8516908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9571" y="4415141"/>
            <a:ext cx="4437062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0A147CFF-E830-BA67-DABF-02B8AF3A1693}"/>
              </a:ext>
            </a:extLst>
          </p:cNvPr>
          <p:cNvSpPr txBox="1">
            <a:spLocks/>
          </p:cNvSpPr>
          <p:nvPr/>
        </p:nvSpPr>
        <p:spPr>
          <a:xfrm>
            <a:off x="665974" y="4415141"/>
            <a:ext cx="8015910" cy="238759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</a:t>
            </a:r>
          </a:p>
          <a:p>
            <a:pPr algn="just"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ARUL MURUGAN M            -    24CS0084</a:t>
            </a:r>
            <a:endParaRPr lang="en-US" b="1" dirty="0"/>
          </a:p>
          <a:p>
            <a:pPr algn="just"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RITVIK DODDAPANENI     -    24CS0755</a:t>
            </a:r>
            <a:endParaRPr lang="en-US" dirty="0"/>
          </a:p>
          <a:p>
            <a:pPr algn="just">
              <a:spcBef>
                <a:spcPts val="575"/>
              </a:spcBef>
              <a:defRPr/>
            </a:pPr>
            <a:endParaRPr lang="en-US" sz="2000" b="1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ct val="20000"/>
              </a:spcBef>
              <a:defRPr/>
            </a:pP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ct val="20000"/>
              </a:spcBef>
              <a:defRPr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ct val="20000"/>
              </a:spcBef>
              <a:defRPr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33C155FE-8E1F-5493-5BFD-9E9E1B54EE9F}"/>
              </a:ext>
            </a:extLst>
          </p:cNvPr>
          <p:cNvSpPr txBox="1">
            <a:spLocks/>
          </p:cNvSpPr>
          <p:nvPr/>
        </p:nvSpPr>
        <p:spPr>
          <a:xfrm>
            <a:off x="2772697" y="6309640"/>
            <a:ext cx="6590671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MOBILE APPLICATION DEVELOPMENT PROJECT-ZEROTH REVIEW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29B0FC-508A-04CF-201F-3C809B84DB23}"/>
              </a:ext>
            </a:extLst>
          </p:cNvPr>
          <p:cNvSpPr txBox="1"/>
          <p:nvPr/>
        </p:nvSpPr>
        <p:spPr>
          <a:xfrm>
            <a:off x="9617732" y="4815251"/>
            <a:ext cx="257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         Mrs.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Sindhu</a:t>
            </a:r>
          </a:p>
        </p:txBody>
      </p:sp>
    </p:spTree>
    <p:extLst>
      <p:ext uri="{BB962C8B-B14F-4D97-AF65-F5344CB8AC3E}">
        <p14:creationId xmlns:p14="http://schemas.microsoft.com/office/powerpoint/2010/main" val="101999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EDFB-9D67-1544-8DCF-2EA05B7BE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783" y="0"/>
            <a:ext cx="10515600" cy="1009651"/>
          </a:xfrm>
        </p:spPr>
        <p:txBody>
          <a:bodyPr/>
          <a:lstStyle/>
          <a:p>
            <a:r>
              <a:rPr lang="en-IN" dirty="0"/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9BDFD-C889-2BA2-AF99-5AE9671A1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9475"/>
            <a:ext cx="10515600" cy="4951278"/>
          </a:xfrm>
        </p:spPr>
        <p:txBody>
          <a:bodyPr/>
          <a:lstStyle/>
          <a:p>
            <a:pPr marL="571500" indent="-571500"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71500" indent="-571500"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marL="571500" indent="-571500"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 </a:t>
            </a:r>
          </a:p>
          <a:p>
            <a:pPr marL="571500" indent="-571500"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and Scope of the Proposed work</a:t>
            </a:r>
          </a:p>
          <a:p>
            <a:pPr marL="571500" indent="-571500"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571500" indent="-571500"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  <a:p>
            <a:pPr marL="571500" indent="-571500"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Design</a:t>
            </a:r>
          </a:p>
          <a:p>
            <a:pPr marL="571500" indent="-571500"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00C09-79CD-D5FF-4B1E-B6109C06D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325EE-5BC8-4C2B-A4D7-1023B1CB6184}" type="datetime1">
              <a:rPr lang="en-IN" sz="1600" b="1" smtClean="0"/>
              <a:t>23-07-2026</a:t>
            </a:fld>
            <a:endParaRPr lang="en-IN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88C0C3-315E-F140-5B03-3CA67C3F3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75819" y="6356350"/>
            <a:ext cx="8177981" cy="365125"/>
          </a:xfrm>
        </p:spPr>
        <p:txBody>
          <a:bodyPr/>
          <a:lstStyle/>
          <a:p>
            <a:fld id="{75FB8137-F6AA-4E86-959E-1B3561B3F039}" type="slidenum">
              <a:rPr lang="en-IN" sz="1800" b="1" smtClean="0"/>
              <a:t>2</a:t>
            </a:fld>
            <a:endParaRPr lang="en-IN" sz="1800" b="1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7125721C-C5FB-4C5C-A852-1ABD08E851BB}"/>
              </a:ext>
            </a:extLst>
          </p:cNvPr>
          <p:cNvSpPr txBox="1">
            <a:spLocks/>
          </p:cNvSpPr>
          <p:nvPr/>
        </p:nvSpPr>
        <p:spPr>
          <a:xfrm>
            <a:off x="2772697" y="6309640"/>
            <a:ext cx="6590671" cy="438942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MOBILE APPLICATION DEVELOPMENT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91402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AA21A-54F0-4716-29D9-ECF7E9AF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2BC16-1F6B-7190-668A-D7B311670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b="1" dirty="0"/>
              <a:t>Growing Need for Affordable Shopping</a:t>
            </a:r>
            <a:r>
              <a:rPr lang="en-US" sz="2400" dirty="0"/>
              <a:t>: Online shopping has become a part of everyday life, but individual buyers often miss out on wholesale prices and bulk discounts, resulting in higher costs for frequently purchased products.</a:t>
            </a:r>
          </a:p>
          <a:p>
            <a:pPr algn="just"/>
            <a:r>
              <a:rPr lang="en-US" sz="2400" b="1" dirty="0"/>
              <a:t>Innovative Solution – GroupDeal</a:t>
            </a:r>
            <a:r>
              <a:rPr lang="en-US" sz="2400" dirty="0"/>
              <a:t>: GroupDeal is a locality-based mobile application that allows users within the same pincode to form buying groups. As more members join, the product price decreases in real time, making shopping more affordable.</a:t>
            </a:r>
          </a:p>
          <a:p>
            <a:pPr algn="just"/>
            <a:r>
              <a:rPr lang="en-US" sz="2400" b="1" dirty="0"/>
              <a:t>Smart and Transparent Buying</a:t>
            </a:r>
            <a:r>
              <a:rPr lang="en-US" sz="2400" dirty="0"/>
              <a:t>: The app compares prices from multiple e-commerce platforms, enables supplier bidding for the best deal, and uses a reputation system to ensure secure, trustworthy, and cost-effective group purchases.</a:t>
            </a:r>
            <a:endParaRPr lang="en-IN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6DD0B-5AED-6801-2D16-ECDF8112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23-07-2026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EF410-956F-797B-C0DC-A65953A2E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3</a:t>
            </a:fld>
            <a:endParaRPr lang="en-IN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6B8FC499-45D3-6CAF-7816-CA5D3417E866}"/>
              </a:ext>
            </a:extLst>
          </p:cNvPr>
          <p:cNvSpPr txBox="1">
            <a:spLocks/>
          </p:cNvSpPr>
          <p:nvPr/>
        </p:nvSpPr>
        <p:spPr>
          <a:xfrm>
            <a:off x="2772697" y="6309640"/>
            <a:ext cx="6590671" cy="438942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MOBILE APPLICATION DEVELOPMENT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43843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2552A-DD7E-C870-2848-05C452A8B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7B22B-6F5D-B030-3C63-4F787F896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 to Wholesale Prices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Individual consumers usually purchase products at retail prices, while wholesale discounts remain available only to businesses or buyers purchasing in large quantities.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Community-Based Buying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Existing e-commerce platforms do not allow users from the same locality to combine their purchases, preventing them from benefiting from collective buying power and better pricing.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Smarter Buying Platform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There is a need for a mobile application that enables locality-based group buying, provides real-time price comparison and dynamic price reduction, and allows supplier bidding to ensure users receive the lowest possible price with a transparent and trustworthy purchasing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4406D-30F6-E67B-43F9-DB22E880F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23-07-2026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24C85-3C17-DC37-61A2-ECEFC845C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4</a:t>
            </a:fld>
            <a:endParaRPr lang="en-IN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9A1ABFA-A3C2-2926-459C-C2FD9845B371}"/>
              </a:ext>
            </a:extLst>
          </p:cNvPr>
          <p:cNvSpPr txBox="1">
            <a:spLocks/>
          </p:cNvSpPr>
          <p:nvPr/>
        </p:nvSpPr>
        <p:spPr>
          <a:xfrm>
            <a:off x="2772697" y="6309640"/>
            <a:ext cx="6590671" cy="438942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MOBILE APPLICATION DEVELOPMENT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03594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05E14-EA18-75E4-82E3-E9F711D0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411AE-698A-DA77-2583-697C35776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GroupDeal is a locality-based mobile application where users in the same pincode join together to purchase products in bulk and unlock wholesale prices.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 compares prices from major e-commerce platforms and displays the best individual price alongside the estimated group-buying price. As more users join, the product price decreases dynamically in real time.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the group reaches the required number of members, suppliers compete through bidding to offer the lowest possible price, ensuring maximum savings for buyers.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also includes secure payments, referral rewards, demand-based group creation, and a reputation system to provide a transparent, reliable, and cost-effective shopping experience.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C5164-9C7D-856D-0012-ACDBF3D98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23-07-2026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02D70-72E1-C1D5-E61F-5BC43FE32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5</a:t>
            </a:fld>
            <a:endParaRPr lang="en-IN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E83FAEF9-89A0-550A-0AB8-2C46E748F891}"/>
              </a:ext>
            </a:extLst>
          </p:cNvPr>
          <p:cNvSpPr txBox="1">
            <a:spLocks/>
          </p:cNvSpPr>
          <p:nvPr/>
        </p:nvSpPr>
        <p:spPr>
          <a:xfrm>
            <a:off x="2772697" y="6309640"/>
            <a:ext cx="6590671" cy="438942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MOBILE APPLICATION DEVELOPMENT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242684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523DE-006A-6D21-7A1B-81100D67F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and Scope of the Proposed work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42FBF-3C19-FADB-A0F2-4D2D31489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locality-based mobile application that enables users to purchase products collectively at wholesale prices through group buying.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transparent and cost-effective shopping experience using dynamic pricing, supplier bidding, and secure payment mechanisms.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pincode-based group formation, real-time price comparison, dynamic price reduction, and automated supplier bidding.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referral rewards, demand-based group creation, reputation management, and secure payment processing for reliable group purchases.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70EA2-B122-4403-A7C4-12DC32967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23-07-2026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14FBCF-98C0-5B59-27EC-1F6081985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6</a:t>
            </a:fld>
            <a:endParaRPr lang="en-IN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C5F086B-4CA5-F18F-023F-2AA41894D7A4}"/>
              </a:ext>
            </a:extLst>
          </p:cNvPr>
          <p:cNvSpPr txBox="1">
            <a:spLocks/>
          </p:cNvSpPr>
          <p:nvPr/>
        </p:nvSpPr>
        <p:spPr>
          <a:xfrm>
            <a:off x="2772697" y="6309640"/>
            <a:ext cx="6590671" cy="438942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MOBILE APPLICATION DEVELOPMENT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33971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8A2C7-ECE5-50A2-EA22-8CB925FA9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F0263-EAE1-004B-AFE4-F952EC819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b="1" dirty="0"/>
              <a:t>1. Online Group Buying</a:t>
            </a:r>
            <a:br>
              <a:rPr lang="en-IN" dirty="0"/>
            </a:br>
            <a:r>
              <a:rPr lang="en-IN" sz="2200" dirty="0"/>
              <a:t>Anand &amp; Aron (2003) proposed web-based group buying to provide quantity discounts through collective purchasing. The study explains pricing mechanisms but does not support locality-based mobile group buying. </a:t>
            </a:r>
          </a:p>
          <a:p>
            <a:r>
              <a:rPr lang="en-IN" sz="2200" b="1" dirty="0"/>
              <a:t>Reference:</a:t>
            </a:r>
            <a:br>
              <a:rPr lang="en-IN" sz="2200" dirty="0"/>
            </a:br>
            <a:r>
              <a:rPr lang="en-IN" sz="2200" dirty="0"/>
              <a:t>Anand, K.S., &amp; Aron, R. (</a:t>
            </a:r>
            <a:r>
              <a:rPr lang="en-IN" sz="2500" dirty="0"/>
              <a:t>2003). </a:t>
            </a:r>
            <a:r>
              <a:rPr lang="en-IN" sz="2500" i="1" dirty="0"/>
              <a:t>Group Buying on the Web: A Comparison of Price-Discovery Mechanisms.</a:t>
            </a:r>
          </a:p>
          <a:p>
            <a:pPr marL="0" indent="0">
              <a:buNone/>
            </a:pPr>
            <a:r>
              <a:rPr lang="en-IN" sz="2400" b="1" dirty="0"/>
              <a:t>2. Community Group Buying (CGB)</a:t>
            </a:r>
            <a:br>
              <a:rPr lang="en-IN" sz="2400" dirty="0"/>
            </a:br>
            <a:r>
              <a:rPr lang="en-IN" sz="2200" dirty="0"/>
              <a:t>A 2024 systematic review analyzed 41 studies on Community Group Buying (CGB). It identified trust, logistics, and localization as major factors while highlighting research gaps in platform design and scalability. </a:t>
            </a:r>
          </a:p>
          <a:p>
            <a:r>
              <a:rPr lang="en-IN" sz="2200" b="1" dirty="0"/>
              <a:t>Reference:</a:t>
            </a:r>
            <a:br>
              <a:rPr lang="en-IN" sz="2200" dirty="0"/>
            </a:br>
            <a:r>
              <a:rPr lang="en-IN" sz="2200" i="1" dirty="0"/>
              <a:t>Journal of Internet Commerce</a:t>
            </a:r>
            <a:r>
              <a:rPr lang="en-IN" sz="2200" dirty="0"/>
              <a:t> (2024). </a:t>
            </a:r>
            <a:r>
              <a:rPr lang="en-IN" sz="2200" i="1" dirty="0"/>
              <a:t>Community Group Buying: A Systematic Literature Review.</a:t>
            </a:r>
            <a:endParaRPr lang="en-IN" sz="2200" dirty="0"/>
          </a:p>
          <a:p>
            <a:pPr marL="0" indent="0">
              <a:buNone/>
            </a:pPr>
            <a:endParaRPr lang="en-IN" sz="2500" dirty="0"/>
          </a:p>
          <a:p>
            <a:pPr algn="just"/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60FC9-5D5E-D1B8-5BD7-65EC6B92B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23-07-2026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F8D311-C9E8-1065-7BFB-9C33AE212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7</a:t>
            </a:fld>
            <a:endParaRPr lang="en-IN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B05AFE3-16EB-7E63-FCB3-1492ED2A30F5}"/>
              </a:ext>
            </a:extLst>
          </p:cNvPr>
          <p:cNvSpPr txBox="1">
            <a:spLocks/>
          </p:cNvSpPr>
          <p:nvPr/>
        </p:nvSpPr>
        <p:spPr>
          <a:xfrm>
            <a:off x="2772697" y="6309640"/>
            <a:ext cx="6590671" cy="438942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MOBILE APPLICATION DEVELOPMENT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219357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8C86C-709C-1D7E-3FF9-03D1F955B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3. Supplier Competition &amp; Reverse Auctions</a:t>
            </a:r>
            <a:br>
              <a:rPr lang="en-IN" dirty="0"/>
            </a:br>
            <a:r>
              <a:rPr lang="en-IN" dirty="0"/>
              <a:t>Jap (2003) showed that reverse auctions increase supplier competition and improve procurement efficiency. However, the approach mainly targets business procurement rather than consumer group-buying applications. </a:t>
            </a:r>
          </a:p>
          <a:p>
            <a:r>
              <a:rPr lang="en-IN" b="1" dirty="0"/>
              <a:t>Reference:</a:t>
            </a:r>
            <a:br>
              <a:rPr lang="en-IN" dirty="0"/>
            </a:br>
            <a:r>
              <a:rPr lang="en-IN" dirty="0"/>
              <a:t>Jap, S.D. (2003). </a:t>
            </a:r>
            <a:r>
              <a:rPr lang="en-IN" i="1" dirty="0"/>
              <a:t>An Exploratory Study of Supplier Participation in Online Reverse Auctions.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BEFB7-F5D4-1E27-28AB-67CC28AEF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23-07-2026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4FB95D-1F9D-F559-E0B4-694EDB196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693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2F20F-996C-75D3-233A-2CF65D068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EF7F3-3CB7-3DCB-8E90-B99710E23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Dart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Flutter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 Studio Code / Android Studio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Node.js + Express.js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MongoDB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Firebase Authentication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Comparison: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Amazon, Flipkart, Meesho &amp; IndiaMART APIs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Firebase Cloud Messaging (FCM)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Gateway: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Razorpay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&amp; GitHub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F1946-9482-8F30-D61C-AD0D89B1D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23-07-2026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8551A6-385B-4923-FAE3-BAA471D95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9</a:t>
            </a:fld>
            <a:endParaRPr lang="en-IN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1616B27-1951-FC52-0A85-39F46E6C5C03}"/>
              </a:ext>
            </a:extLst>
          </p:cNvPr>
          <p:cNvSpPr txBox="1">
            <a:spLocks/>
          </p:cNvSpPr>
          <p:nvPr/>
        </p:nvSpPr>
        <p:spPr>
          <a:xfrm>
            <a:off x="2772697" y="6309640"/>
            <a:ext cx="6590671" cy="438942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MOBILE APPLICATION DEVELOPMENT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62477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EE1D2-B273-DF0C-5304-A3CB9ED4B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Design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C3BD1-05A0-C114-3824-A22E1DE1F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23-07-2026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F5297-F9B2-43BC-E08D-83131C171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10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23DB11-F742-AFF3-40ED-F58AB1F8B142}"/>
              </a:ext>
            </a:extLst>
          </p:cNvPr>
          <p:cNvSpPr txBox="1">
            <a:spLocks/>
          </p:cNvSpPr>
          <p:nvPr/>
        </p:nvSpPr>
        <p:spPr>
          <a:xfrm>
            <a:off x="2772697" y="6309640"/>
            <a:ext cx="6590671" cy="438942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MOBILE APPLICATION DEVELOPMENT PROJECT-ZEROTH REVIEW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FC671C-A110-0A4C-7ACB-D0685CED5619}"/>
              </a:ext>
            </a:extLst>
          </p:cNvPr>
          <p:cNvSpPr txBox="1"/>
          <p:nvPr/>
        </p:nvSpPr>
        <p:spPr>
          <a:xfrm>
            <a:off x="3047354" y="3244334"/>
            <a:ext cx="6094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851BCEB-24EE-5E0E-6134-02A471B27541}"/>
              </a:ext>
            </a:extLst>
          </p:cNvPr>
          <p:cNvCxnSpPr/>
          <p:nvPr/>
        </p:nvCxnSpPr>
        <p:spPr>
          <a:xfrm>
            <a:off x="5533053" y="5505061"/>
            <a:ext cx="0" cy="1959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7D0D02D-66AD-BD2B-9DDE-1A41203E3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021" y="571370"/>
            <a:ext cx="6718041" cy="578498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A99C040-66DB-73F7-1AF1-3990B203B62D}"/>
              </a:ext>
            </a:extLst>
          </p:cNvPr>
          <p:cNvCxnSpPr/>
          <p:nvPr/>
        </p:nvCxnSpPr>
        <p:spPr>
          <a:xfrm>
            <a:off x="3732245" y="2519265"/>
            <a:ext cx="29857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21F6823-873E-8018-7666-475FCC2BDF3D}"/>
              </a:ext>
            </a:extLst>
          </p:cNvPr>
          <p:cNvCxnSpPr/>
          <p:nvPr/>
        </p:nvCxnSpPr>
        <p:spPr>
          <a:xfrm>
            <a:off x="5484462" y="2531706"/>
            <a:ext cx="29857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02CCE9F-CBBB-7182-D5B2-3A4B99FC515D}"/>
              </a:ext>
            </a:extLst>
          </p:cNvPr>
          <p:cNvCxnSpPr/>
          <p:nvPr/>
        </p:nvCxnSpPr>
        <p:spPr>
          <a:xfrm>
            <a:off x="7262327" y="2534816"/>
            <a:ext cx="29857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5A4B5A6-5F11-FADB-12B4-AC6D6796A841}"/>
              </a:ext>
            </a:extLst>
          </p:cNvPr>
          <p:cNvCxnSpPr>
            <a:cxnSpLocks/>
          </p:cNvCxnSpPr>
          <p:nvPr/>
        </p:nvCxnSpPr>
        <p:spPr>
          <a:xfrm>
            <a:off x="5573486" y="4071257"/>
            <a:ext cx="0" cy="3327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4F4F5EB-616C-424A-7FC6-8C5C1A0311FD}"/>
              </a:ext>
            </a:extLst>
          </p:cNvPr>
          <p:cNvCxnSpPr>
            <a:cxnSpLocks/>
          </p:cNvCxnSpPr>
          <p:nvPr/>
        </p:nvCxnSpPr>
        <p:spPr>
          <a:xfrm>
            <a:off x="5567266" y="5162939"/>
            <a:ext cx="0" cy="1835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51CDC1BE-2E6F-898C-CCBB-BB803C54D487}"/>
              </a:ext>
            </a:extLst>
          </p:cNvPr>
          <p:cNvSpPr/>
          <p:nvPr/>
        </p:nvSpPr>
        <p:spPr>
          <a:xfrm>
            <a:off x="6447454" y="4190720"/>
            <a:ext cx="171060" cy="19594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1447188-A4C4-9B22-35BB-8EEF6BE0C490}"/>
              </a:ext>
            </a:extLst>
          </p:cNvPr>
          <p:cNvSpPr/>
          <p:nvPr/>
        </p:nvSpPr>
        <p:spPr>
          <a:xfrm>
            <a:off x="4695046" y="4181667"/>
            <a:ext cx="171060" cy="19594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5E1E9A6-A931-C03C-47C3-762168008E87}"/>
              </a:ext>
            </a:extLst>
          </p:cNvPr>
          <p:cNvSpPr/>
          <p:nvPr/>
        </p:nvSpPr>
        <p:spPr>
          <a:xfrm>
            <a:off x="6447454" y="5147683"/>
            <a:ext cx="171060" cy="19594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278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44DF4-F332-7FCB-D182-25AAC29FE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E9F48-BC40-72EF-86DE-62F096D93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4196"/>
            <a:ext cx="10515600" cy="4562767"/>
          </a:xfrm>
        </p:spPr>
        <p:txBody>
          <a:bodyPr>
            <a:normAutofit fontScale="92500" lnSpcReduction="20000"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user requirements, define the group-buying workflow, and analyze API, payment, and supplier integration needs.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UI/UX Design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user-friendly interfaces for product search, group creation, live price tracking, payment, and order management.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Development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the Flutter frontend, Node.js backend, MongoDB database, and implement authentication and group management.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&amp; Feature Integration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e-commerce APIs, payment gateway, notifications, dynamic pricing, and supplier bidding functionality.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Deployment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application performance, payment security, API integration, and group-buying workflow before deployment.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B1074-C6B2-2A1D-7D78-3FADF2E8C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23-07-2026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6BD213-BEC3-9A32-F49F-74DC7815D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11</a:t>
            </a:fld>
            <a:endParaRPr lang="en-IN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6E2AB6BC-5E8F-EF2D-F557-76227F390C74}"/>
              </a:ext>
            </a:extLst>
          </p:cNvPr>
          <p:cNvSpPr txBox="1">
            <a:spLocks/>
          </p:cNvSpPr>
          <p:nvPr/>
        </p:nvSpPr>
        <p:spPr>
          <a:xfrm>
            <a:off x="2772697" y="6309640"/>
            <a:ext cx="6590671" cy="438942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MOBILE APPLICATION DEVELOPMENT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85869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058349-6F27-AAF5-4F81-CD399C2DB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92139-4228-4E1E-AE34-D1AC707B480F}" type="datetime1">
              <a:rPr lang="en-IN" smtClean="0"/>
              <a:t>23-07-2026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5A84D5-A9BB-EE81-A654-DCCF3F9B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12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8C1658-30AF-0004-6E41-E4FA23952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40" y="0"/>
            <a:ext cx="848563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7C00C7-5A11-6BC3-7A37-004DC88B7910}"/>
              </a:ext>
            </a:extLst>
          </p:cNvPr>
          <p:cNvSpPr txBox="1"/>
          <p:nvPr/>
        </p:nvSpPr>
        <p:spPr>
          <a:xfrm>
            <a:off x="9507894" y="5411755"/>
            <a:ext cx="2558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3"/>
              </a:rPr>
              <a:t>GroupDeal</a:t>
            </a:r>
            <a:r>
              <a:rPr lang="en-IN" dirty="0"/>
              <a:t> - Experience The Joy Of Shopping </a:t>
            </a:r>
          </a:p>
        </p:txBody>
      </p:sp>
    </p:spTree>
    <p:extLst>
      <p:ext uri="{BB962C8B-B14F-4D97-AF65-F5344CB8AC3E}">
        <p14:creationId xmlns:p14="http://schemas.microsoft.com/office/powerpoint/2010/main" val="1825998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977</TotalTime>
  <Words>946</Words>
  <Application>Microsoft Office PowerPoint</Application>
  <PresentationFormat>Widescreen</PresentationFormat>
  <Paragraphs>104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 CONTENTS</vt:lpstr>
      <vt:lpstr>Introduction </vt:lpstr>
      <vt:lpstr>Problem Statement  </vt:lpstr>
      <vt:lpstr>Project Description  </vt:lpstr>
      <vt:lpstr>Aim and Scope of the Proposed work </vt:lpstr>
      <vt:lpstr>Literature Survey </vt:lpstr>
      <vt:lpstr>PowerPoint Presentation</vt:lpstr>
      <vt:lpstr>Tech Stack </vt:lpstr>
      <vt:lpstr>Block Diagram Design </vt:lpstr>
      <vt:lpstr>Project Planning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Arul Murugan M</dc:creator>
  <cp:lastModifiedBy>Arul Murugan</cp:lastModifiedBy>
  <cp:revision>133</cp:revision>
  <dcterms:created xsi:type="dcterms:W3CDTF">2024-07-31T06:42:35Z</dcterms:created>
  <dcterms:modified xsi:type="dcterms:W3CDTF">2026-07-23T14:11:09Z</dcterms:modified>
  <cp:contentStatus/>
</cp:coreProperties>
</file>